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142534296" r:id="rId3"/>
    <p:sldId id="2142534291" r:id="rId4"/>
    <p:sldId id="2142534292" r:id="rId5"/>
    <p:sldId id="2142534293" r:id="rId6"/>
    <p:sldId id="2142534295" r:id="rId7"/>
    <p:sldId id="2142534294" r:id="rId8"/>
    <p:sldId id="2142534297" r:id="rId9"/>
    <p:sldId id="2142534298" r:id="rId10"/>
    <p:sldId id="2142534299" r:id="rId11"/>
    <p:sldId id="214253430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A1E"/>
    <a:srgbClr val="D0D3D6"/>
    <a:srgbClr val="EC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41" autoAdjust="0"/>
  </p:normalViewPr>
  <p:slideViewPr>
    <p:cSldViewPr snapToGrid="0" snapToObjects="1">
      <p:cViewPr varScale="1">
        <p:scale>
          <a:sx n="75" d="100"/>
          <a:sy n="75" d="100"/>
        </p:scale>
        <p:origin x="739" y="4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5069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340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211144-B462-4548-9A38-5F5E1FB8E52C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88E15-679B-4415-AB21-FF99F6A420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2159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88E15-679B-4415-AB21-FF99F6A420D1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1569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20413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040B071-613B-71F9-EFBA-E868DCECE873}"/>
              </a:ext>
            </a:extLst>
          </p:cNvPr>
          <p:cNvSpPr txBox="1"/>
          <p:nvPr userDrawn="1"/>
        </p:nvSpPr>
        <p:spPr>
          <a:xfrm>
            <a:off x="304800" y="6460958"/>
            <a:ext cx="122341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/>
              <a:t>@Hector Upegui –</a:t>
            </a:r>
          </a:p>
        </p:txBody>
      </p:sp>
      <p:sp>
        <p:nvSpPr>
          <p:cNvPr id="8" name="Rechteck: abgerundete Ecken 7">
            <a:hlinkClick r:id="" action="ppaction://noaction"/>
            <a:extLst>
              <a:ext uri="{FF2B5EF4-FFF2-40B4-BE49-F238E27FC236}">
                <a16:creationId xmlns:a16="http://schemas.microsoft.com/office/drawing/2014/main" id="{2603E254-EB15-1C46-2C7D-DB175DE2BD22}"/>
              </a:ext>
            </a:extLst>
          </p:cNvPr>
          <p:cNvSpPr/>
          <p:nvPr userDrawn="1"/>
        </p:nvSpPr>
        <p:spPr>
          <a:xfrm>
            <a:off x="65988" y="0"/>
            <a:ext cx="1187777" cy="31108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Sitzung 1</a:t>
            </a:r>
          </a:p>
        </p:txBody>
      </p:sp>
      <p:sp>
        <p:nvSpPr>
          <p:cNvPr id="9" name="Rechteck: abgerundete Ecken 8">
            <a:hlinkClick r:id="" action="ppaction://noaction"/>
            <a:extLst>
              <a:ext uri="{FF2B5EF4-FFF2-40B4-BE49-F238E27FC236}">
                <a16:creationId xmlns:a16="http://schemas.microsoft.com/office/drawing/2014/main" id="{DB2E3D5F-1576-CFA6-A684-7F81EF1FE882}"/>
              </a:ext>
            </a:extLst>
          </p:cNvPr>
          <p:cNvSpPr/>
          <p:nvPr userDrawn="1"/>
        </p:nvSpPr>
        <p:spPr>
          <a:xfrm>
            <a:off x="1330751" y="0"/>
            <a:ext cx="1187777" cy="31108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Teil 1</a:t>
            </a:r>
          </a:p>
        </p:txBody>
      </p:sp>
      <p:sp>
        <p:nvSpPr>
          <p:cNvPr id="10" name="Rechteck: abgerundete Ecken 9">
            <a:hlinkClick r:id="" action="ppaction://noaction"/>
            <a:extLst>
              <a:ext uri="{FF2B5EF4-FFF2-40B4-BE49-F238E27FC236}">
                <a16:creationId xmlns:a16="http://schemas.microsoft.com/office/drawing/2014/main" id="{A65ED7C5-1F78-ABE0-B897-6565176C4925}"/>
              </a:ext>
            </a:extLst>
          </p:cNvPr>
          <p:cNvSpPr/>
          <p:nvPr userDrawn="1"/>
        </p:nvSpPr>
        <p:spPr>
          <a:xfrm>
            <a:off x="2595514" y="0"/>
            <a:ext cx="1187777" cy="31108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Teil 2</a:t>
            </a:r>
          </a:p>
        </p:txBody>
      </p:sp>
      <p:sp>
        <p:nvSpPr>
          <p:cNvPr id="11" name="Rechteck: abgerundete Ecken 10">
            <a:hlinkClick r:id="" action="ppaction://noaction"/>
            <a:extLst>
              <a:ext uri="{FF2B5EF4-FFF2-40B4-BE49-F238E27FC236}">
                <a16:creationId xmlns:a16="http://schemas.microsoft.com/office/drawing/2014/main" id="{5F3F8FD5-A26E-4A86-492A-F9CC7689A0F6}"/>
              </a:ext>
            </a:extLst>
          </p:cNvPr>
          <p:cNvSpPr/>
          <p:nvPr userDrawn="1"/>
        </p:nvSpPr>
        <p:spPr>
          <a:xfrm>
            <a:off x="3860277" y="-11093"/>
            <a:ext cx="1187777" cy="31108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Teil 3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7500708-C94E-B340-3F6F-1F315928D63B}"/>
              </a:ext>
            </a:extLst>
          </p:cNvPr>
          <p:cNvSpPr txBox="1"/>
          <p:nvPr userDrawn="1"/>
        </p:nvSpPr>
        <p:spPr>
          <a:xfrm>
            <a:off x="304800" y="6460958"/>
            <a:ext cx="119295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/>
              <a:t>@Hector Upegui –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DFAA19-746A-CC4D-7A26-94A9776E6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0413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DA34290-B488-7FC0-23E8-3173C059A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0413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A1864AE-8D3A-E8B0-AFE5-7DBB96C6C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0413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8F929B7-BCE1-61C8-A70C-8A2D0DEAB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0413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BBCEC-4E82-8E81-D97A-458BCB45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0413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AB83F-B6F6-3C75-718C-B0E5B09BC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0413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B27CA4B-BD9F-F91F-F2F9-221A82B3D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0413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DB36093-2CC3-25CB-376C-EC900458E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0413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3BA0D7D-64D2-E64F-5148-F05B874F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0413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A8343A-18D8-F3D3-8943-0CC26C1A1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0413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AB713EA-C70E-134E-B1ED-0E428CEE55A3}"/>
              </a:ext>
            </a:extLst>
          </p:cNvPr>
          <p:cNvGrpSpPr/>
          <p:nvPr userDrawn="1"/>
        </p:nvGrpSpPr>
        <p:grpSpPr>
          <a:xfrm>
            <a:off x="-137840" y="-134619"/>
            <a:ext cx="12464460" cy="7130204"/>
            <a:chOff x="-103380" y="-100965"/>
            <a:chExt cx="9348345" cy="534765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536132F-F9DB-DD47-AA52-046DF466E381}"/>
                </a:ext>
              </a:extLst>
            </p:cNvPr>
            <p:cNvGrpSpPr/>
            <p:nvPr userDrawn="1"/>
          </p:nvGrpSpPr>
          <p:grpSpPr>
            <a:xfrm>
              <a:off x="228600" y="-100965"/>
              <a:ext cx="8683557" cy="91440"/>
              <a:chOff x="228600" y="-107315"/>
              <a:chExt cx="8683557" cy="91440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2E58547-807A-4043-A4F6-EBDB80C612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18288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7580C1E-9A04-884C-9CBE-AD147EE325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706755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9FCC1435-1DEB-BD49-BC51-C5F9910126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2186305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CD8F928F-DE5F-7940-ABC6-37189F0C56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241808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464BE6A6-54F0-7E4F-975A-E027D149D5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441198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203626E4-71D4-A84B-9396-C942D80563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452628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1C7B908-D70B-554C-B663-61002E25B0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464058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A54FAF0C-B66E-1943-81C9-5FB24033C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8866437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820770E-33E9-364C-9C3E-B618B1FF54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93218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03C201D6-AE3E-7745-8A91-E278FB5438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144653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ECA6BC4-60D5-CD4B-8996-A4057A19B0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1671955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65E0B2C-B65F-D94C-91C8-07D8FAE6D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366903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9C81F8EE-56E5-A541-8BFF-343478A25D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3894455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CB54E850-C742-8946-B3D5-CA9A23F97F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2929255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A608903E-0703-5342-BFE1-82D347C104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3157855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0F11F3D6-6F4A-2240-897B-B36612CC9A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5158111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23E4A65B-58DB-E842-92B7-FD6515484D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6634486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2F2E4455-14C6-DD41-97D3-9E2398F6AA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6863086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4DAAA4A9-DA2F-BE4B-B29A-B9EDA9E239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5389886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306DF8D7-C190-8346-B325-399DB4A772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5897886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AC969EC-E408-A748-A418-AFBD032BF5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6129661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4564BC0E-0D9F-014D-ACC9-8FE7A4F5B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7377436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356ED56F-C782-8440-9B34-93CE2184B4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7609211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CC4222AB-1FD9-5F40-BE4C-C55C521A68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812038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9950A977-94A0-1440-B6B3-115CD1645C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8345805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C87D55-E30D-FF42-A7DD-CA87F3690D54}"/>
                </a:ext>
              </a:extLst>
            </p:cNvPr>
            <p:cNvGrpSpPr/>
            <p:nvPr userDrawn="1"/>
          </p:nvGrpSpPr>
          <p:grpSpPr>
            <a:xfrm>
              <a:off x="-103380" y="228219"/>
              <a:ext cx="91440" cy="4683506"/>
              <a:chOff x="-109730" y="228219"/>
              <a:chExt cx="91440" cy="4683506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06DF1F0-EEB9-E043-9336-E28556DF7F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1104900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827F70E-DD13-2D45-9760-E986F77469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122872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D135C4D7-718F-3B4D-80CE-B2A012F599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1471420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E3297882-5B50-3C4E-B997-A436BB228F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A5394EB-1879-D24F-819B-491AA13A18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2449697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B4F5B2B7-BEB5-4B4B-934A-593ABFE4CA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3675249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337EC3BF-82F4-7D49-B40A-D67693065B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819E2373-2265-0C41-88F0-1DC28C07CB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491172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436BF8B6-2597-F447-B644-AD084B386B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2690622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4F5EB048-4D1A-3D43-AC2C-36BCBAFF84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3913374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BF1CCB0-15FA-0C4C-ABCF-847EC827D209}"/>
                </a:ext>
              </a:extLst>
            </p:cNvPr>
            <p:cNvGrpSpPr/>
            <p:nvPr userDrawn="1"/>
          </p:nvGrpSpPr>
          <p:grpSpPr>
            <a:xfrm>
              <a:off x="228600" y="5155248"/>
              <a:ext cx="8683557" cy="91440"/>
              <a:chOff x="228600" y="-107315"/>
              <a:chExt cx="8683557" cy="91440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1339B1D-4487-9242-A079-CE0B763BF4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18288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F1239A3-FCEA-5140-A2BD-28EDD8C86D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706755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87F7CE4-0C3A-E747-BC31-0235978B3F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2186305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A9C3100-C5EF-9942-BCF5-C14C4EEC8A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241808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4F5AAB8-8F89-CD49-B7B1-2BC82E371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441198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37CDEEA1-9953-0C48-87F2-43E4660474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452628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9497C75-E2A1-A541-B26B-6A219574D0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464058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D7B5C0CD-2788-A74A-B0F0-36973A7E0A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8866437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44A86F5F-7193-954C-BE07-6A19A34B83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93218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399A2499-BF25-C847-BE28-87F9E6D77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144653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6D686E2-D11C-2947-8A18-89BF70D72B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1671955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A173841-39BE-D244-9374-92236D20E6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366903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C55176F-2990-1B4F-994E-8A98FC3258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3894455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9890DD11-3D06-474A-9A7E-DE476C1179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2929255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661ABB2B-CB80-8B4A-B491-93AAAA50FF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3157855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7C9E412-A6AC-664B-9F76-F692F00321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5158111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1E847528-B868-2143-90D0-F11C60A9A0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6634486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5C8BEF0-1A19-5048-8983-56BC5E75A7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6863086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01F451D-0312-684F-98EF-5073F7F936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5389886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4162DE6-F646-AE47-8A3D-B21AC2A71C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5897886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228E463B-960A-B74A-913D-33F1BE27FF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6129661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2AA03989-6CFE-A44E-ADFE-F36277B0D8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7377436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92A317A-69A1-D548-AEE4-8FAEA1FFAB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7609211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CFDA6E36-835F-9B44-A0DE-160FA04D0E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8120380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1DA55216-09E1-1D4B-AC72-5E45B9FAEE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rot="5400000" flipH="1">
                <a:off x="8345805" y="-6159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5FE7FA8-3F2D-A149-92BA-773A19357523}"/>
                </a:ext>
              </a:extLst>
            </p:cNvPr>
            <p:cNvGrpSpPr/>
            <p:nvPr userDrawn="1"/>
          </p:nvGrpSpPr>
          <p:grpSpPr>
            <a:xfrm>
              <a:off x="9153525" y="228219"/>
              <a:ext cx="91440" cy="4683506"/>
              <a:chOff x="-109730" y="228219"/>
              <a:chExt cx="91440" cy="4683506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3F504382-0DEF-654B-90DD-BF16C5E206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1104900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FB3F950A-9F9D-B648-B284-4D0DDB163B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122872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DAA61BA-47FF-924D-BFEF-204CE2A298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1471420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BC77818-8837-BA48-9B34-41759D3D01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12DF50-1015-E849-B0E2-9AC74C7164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2449697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B90ADFB-D959-4A43-9E2D-0CDA8D3745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3675249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9ED3017E-CF66-C244-A6C4-7C0CE58A9F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D934143-6955-6A4C-AB6E-ABA3DFC33B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4911725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389195B-74C6-5646-A495-3C041062FF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2690622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7FEF77D-A5EA-BC44-8297-4124525615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 userDrawn="1"/>
            </p:nvCxnSpPr>
            <p:spPr bwMode="auto">
              <a:xfrm flipH="1">
                <a:off x="-109730" y="3913374"/>
                <a:ext cx="91440" cy="0"/>
              </a:xfrm>
              <a:prstGeom prst="line">
                <a:avLst/>
              </a:prstGeom>
              <a:ln w="3175">
                <a:solidFill>
                  <a:srgbClr val="B9B5AE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9D838EF-5E60-4BBA-CA11-5B1FBC01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0413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80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emini.google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emini.google.com/app?hl=de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7087C8C-F017-5EAB-4DAD-DF96D331EB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804" r="9089" b="35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066" y="4785631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de-DE" sz="2000" dirty="0">
                <a:solidFill>
                  <a:schemeClr val="tx1"/>
                </a:solidFill>
              </a:rPr>
              <a:t>Dr. Hector Upegui</a:t>
            </a:r>
          </a:p>
          <a:p>
            <a:pPr algn="l"/>
            <a:r>
              <a:rPr lang="de-DE" sz="2000" dirty="0">
                <a:solidFill>
                  <a:schemeClr val="tx1"/>
                </a:solidFill>
              </a:rPr>
              <a:t>MVHS</a:t>
            </a:r>
          </a:p>
          <a:p>
            <a:pPr algn="l"/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409CE15-2CD6-C820-18DB-BED450E24A72}"/>
              </a:ext>
            </a:extLst>
          </p:cNvPr>
          <p:cNvSpPr txBox="1">
            <a:spLocks/>
          </p:cNvSpPr>
          <p:nvPr/>
        </p:nvSpPr>
        <p:spPr>
          <a:xfrm>
            <a:off x="9571544" y="6371263"/>
            <a:ext cx="2435399" cy="482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>
                <a:solidFill>
                  <a:schemeClr val="bg2">
                    <a:lumMod val="75000"/>
                  </a:schemeClr>
                </a:solidFill>
              </a:rPr>
              <a:t>Erstellt mit KI‑Copilot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76203D-D86C-B615-FC03-E52D7A04B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1E2C1E4-8DB3-DE34-E6E8-152DBD3D6AB0}"/>
              </a:ext>
            </a:extLst>
          </p:cNvPr>
          <p:cNvSpPr txBox="1"/>
          <p:nvPr/>
        </p:nvSpPr>
        <p:spPr>
          <a:xfrm>
            <a:off x="-482600" y="1804457"/>
            <a:ext cx="71577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dirty="0"/>
              <a:t>BONUS </a:t>
            </a:r>
            <a:r>
              <a:rPr lang="de-DE" sz="4400" dirty="0">
                <a:sym typeface="Wingdings" panose="05000000000000000000" pitchFamily="2" charset="2"/>
              </a:rPr>
              <a:t></a:t>
            </a:r>
          </a:p>
          <a:p>
            <a:pPr algn="ctr"/>
            <a:r>
              <a:rPr lang="de-DE" sz="4400" b="1" dirty="0"/>
              <a:t>personalisierter Agent</a:t>
            </a:r>
            <a:r>
              <a:rPr lang="de-DE" sz="4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48EB4D3-2742-EB24-07BA-C79051FC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B5D1D0-BBF7-0DC2-B9EE-2FF488277174}"/>
              </a:ext>
            </a:extLst>
          </p:cNvPr>
          <p:cNvSpPr txBox="1"/>
          <p:nvPr/>
        </p:nvSpPr>
        <p:spPr>
          <a:xfrm>
            <a:off x="3368040" y="1635324"/>
            <a:ext cx="54559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dirty="0"/>
              <a:t>BONUS </a:t>
            </a:r>
            <a:r>
              <a:rPr lang="de-DE" sz="4400" dirty="0">
                <a:sym typeface="Wingdings" panose="05000000000000000000" pitchFamily="2" charset="2"/>
              </a:rPr>
              <a:t></a:t>
            </a:r>
          </a:p>
          <a:p>
            <a:pPr algn="ctr"/>
            <a:r>
              <a:rPr lang="de-DE" sz="4400" b="1" dirty="0"/>
              <a:t>personalisierter Agent</a:t>
            </a:r>
            <a:r>
              <a:rPr lang="de-DE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8518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9E8F3E-06FA-B01E-3CC3-61EDF8FCF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Beispiel: dein personalisierter Agent</a:t>
            </a:r>
            <a:r>
              <a:rPr lang="de-DE" dirty="0"/>
              <a:t>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D96DAE-970C-E134-D157-850F2E291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Dieses Video demonstriert die Personalisierung eines KI-Agenten, wie wir sie im Kurs besprochen haben, umgesetzt mit der ‚Gems‘-Funktion von Gemini. </a:t>
            </a:r>
          </a:p>
          <a:p>
            <a:r>
              <a:rPr lang="de-DE" dirty="0"/>
              <a:t>Der Anwendungsfall ist ein Mitarbeiter in einer Organisation, der für Reisekostenabrechnungen verantwortlich ist. Dies zeigt beispielhaft, wie ein einfacher Prompt zur Erstellung eines solchen Agenten in ‚Gems‘ aussehen kann.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BB1DBEA-675B-9276-C4FD-0B590036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58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1EE860-2B5B-5726-0E20-E61EE239B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Schritt-für-Schritt-Anleitung: </a:t>
            </a:r>
            <a:br>
              <a:rPr lang="de-DE" b="1" dirty="0"/>
            </a:br>
            <a:r>
              <a:rPr lang="de-DE" b="1" dirty="0"/>
              <a:t>Erstellung eines individuellen Gems</a:t>
            </a:r>
            <a:br>
              <a:rPr lang="de-DE" b="1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F286F0-E393-8DD6-A32F-AEB2A5FFC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0" y="3125789"/>
            <a:ext cx="10972800" cy="1446211"/>
          </a:xfrm>
        </p:spPr>
        <p:txBody>
          <a:bodyPr/>
          <a:lstStyle/>
          <a:p>
            <a:pPr marL="0" indent="0">
              <a:buNone/>
            </a:pPr>
            <a:r>
              <a:rPr lang="de-DE" i="1" dirty="0"/>
              <a:t>Hinweis: In dieser Präsentation sehen Sie einen "Radar"-Effekt um den Mauszeiger, der Ihnen zur besseren Orientierung auf dem Bildschirm dient.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20D4A2-2A71-8E72-1B4B-7B17B9BF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88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079841-495F-25D7-34E5-EDD978406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Erstellung eines individuellen Gems (2)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D06F2D-B3C1-0E6C-FCB1-94105A9B9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400" b="1" dirty="0"/>
              <a:t>Gemini öffnen:</a:t>
            </a:r>
            <a:r>
              <a:rPr lang="de-DE" sz="2400" dirty="0"/>
              <a:t> Starten Sie </a:t>
            </a:r>
            <a:r>
              <a:rPr lang="de-DE" sz="2400" dirty="0">
                <a:hlinkClick r:id="rId2"/>
              </a:rPr>
              <a:t>gemini.google.com</a:t>
            </a:r>
            <a:r>
              <a:rPr lang="de-DE" sz="2400" dirty="0"/>
              <a:t> in Ihrem Browser.</a:t>
            </a:r>
          </a:p>
          <a:p>
            <a:r>
              <a:rPr lang="de-DE" sz="2400" b="1" dirty="0"/>
              <a:t>Seitenleiste aufrufen:</a:t>
            </a:r>
            <a:r>
              <a:rPr lang="de-DE" sz="2400" dirty="0"/>
              <a:t> Öffnen Sie die Seitenleiste auf der linken Seite.</a:t>
            </a:r>
          </a:p>
          <a:p>
            <a:r>
              <a:rPr lang="de-DE" sz="2400" b="1" dirty="0"/>
              <a:t>Gems-Bereich:</a:t>
            </a:r>
            <a:r>
              <a:rPr lang="de-DE" sz="2400" dirty="0"/>
              <a:t> Wählen Sie den Menüpunkt </a:t>
            </a:r>
            <a:r>
              <a:rPr lang="de-DE" sz="2400" b="1" dirty="0"/>
              <a:t>„Gems“</a:t>
            </a:r>
            <a:r>
              <a:rPr lang="de-DE" sz="2400" dirty="0"/>
              <a:t> aus.</a:t>
            </a:r>
          </a:p>
          <a:p>
            <a:r>
              <a:rPr lang="de-DE" sz="2400" b="1" dirty="0"/>
              <a:t>Neues Gem erstellen:</a:t>
            </a:r>
            <a:r>
              <a:rPr lang="de-DE" sz="2400" dirty="0"/>
              <a:t> Klicken Sie auf </a:t>
            </a:r>
            <a:r>
              <a:rPr lang="de-DE" sz="2400" b="1" dirty="0"/>
              <a:t>„Neues Gem“</a:t>
            </a:r>
            <a:r>
              <a:rPr lang="de-DE" sz="2400" dirty="0"/>
              <a:t>.</a:t>
            </a:r>
          </a:p>
          <a:p>
            <a:r>
              <a:rPr lang="de-DE" sz="2400" b="1" dirty="0"/>
              <a:t>Konfiguration:</a:t>
            </a:r>
            <a:r>
              <a:rPr lang="de-DE" sz="2400" dirty="0"/>
              <a:t> Füllen Sie die vier Felder aus:</a:t>
            </a:r>
          </a:p>
          <a:p>
            <a:pPr lvl="1"/>
            <a:r>
              <a:rPr lang="de-DE" sz="2000" b="1" dirty="0"/>
              <a:t>Titel:</a:t>
            </a:r>
            <a:r>
              <a:rPr lang="de-DE" sz="2000" dirty="0"/>
              <a:t> Geben Sie einen Namen ein.</a:t>
            </a:r>
          </a:p>
          <a:p>
            <a:pPr lvl="1"/>
            <a:r>
              <a:rPr lang="de-DE" sz="2000" b="1" dirty="0"/>
              <a:t>Beschreibung:</a:t>
            </a:r>
            <a:r>
              <a:rPr lang="de-DE" sz="2000" dirty="0"/>
              <a:t> Eine kurze Zusammenfassung der Funktion.</a:t>
            </a:r>
          </a:p>
          <a:p>
            <a:pPr lvl="1"/>
            <a:r>
              <a:rPr lang="de-DE" sz="2000" b="1" dirty="0"/>
              <a:t>Anweisungen (Prompt):</a:t>
            </a:r>
            <a:r>
              <a:rPr lang="de-DE" sz="2000" dirty="0"/>
              <a:t> Definieren Sie hier die Aufgaben und das Verhalten Ihres Gems.</a:t>
            </a:r>
          </a:p>
          <a:p>
            <a:pPr lvl="1"/>
            <a:r>
              <a:rPr lang="de-DE" sz="2000" b="1" dirty="0"/>
              <a:t>Wissen:</a:t>
            </a:r>
            <a:r>
              <a:rPr lang="de-DE" sz="2000" dirty="0"/>
              <a:t> Laden Sie bei Bedarf relevante Dokumente oder URLs hoch.</a:t>
            </a:r>
          </a:p>
          <a:p>
            <a:r>
              <a:rPr lang="de-DE" sz="2400" b="1" dirty="0"/>
              <a:t>Speichern:</a:t>
            </a:r>
            <a:r>
              <a:rPr lang="de-DE" sz="2400" dirty="0"/>
              <a:t> Klicken Sie auf </a:t>
            </a:r>
            <a:r>
              <a:rPr lang="de-DE" sz="2400" b="1" dirty="0"/>
              <a:t>„Speichern“</a:t>
            </a:r>
            <a:r>
              <a:rPr lang="de-DE" sz="2400" dirty="0"/>
              <a:t>, um Ihr neues Gem zu aktivieren.</a:t>
            </a:r>
          </a:p>
          <a:p>
            <a:endParaRPr lang="de-DE" sz="24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54E24E-933C-868B-7853-24E6AB86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40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E3656-F67D-4326-0909-F749E1908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006A81-B219-E0E8-2003-732543226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Erstellung eines individuellen Gems (3)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79170B-F2B9-4854-6918-D1C40D0DB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2400" b="1" dirty="0"/>
              <a:t>Gem nachträglich bearbeiten</a:t>
            </a:r>
          </a:p>
          <a:p>
            <a:pPr marL="0" indent="0">
              <a:buNone/>
            </a:pPr>
            <a:endParaRPr lang="de-DE" sz="2400" b="1" dirty="0"/>
          </a:p>
          <a:p>
            <a:r>
              <a:rPr lang="de-DE" sz="2400" dirty="0"/>
              <a:t>Wenn Sie Ihr Gem später anpassen möchten, ist das jederzeit möglich:</a:t>
            </a:r>
          </a:p>
          <a:p>
            <a:r>
              <a:rPr lang="de-DE" sz="2400" dirty="0"/>
              <a:t>Gehen Sie zurück zu </a:t>
            </a:r>
            <a:r>
              <a:rPr lang="de-DE" sz="2400" b="1" dirty="0"/>
              <a:t>„Gems“</a:t>
            </a:r>
            <a:r>
              <a:rPr lang="de-DE" sz="2400" dirty="0"/>
              <a:t> in der Seitenleiste.</a:t>
            </a:r>
          </a:p>
          <a:p>
            <a:r>
              <a:rPr lang="de-DE" sz="2400" dirty="0"/>
              <a:t>Suchen Sie Ihr erstelltes Gem und klicken Sie auf das </a:t>
            </a:r>
            <a:r>
              <a:rPr lang="de-DE" sz="2400" b="1" dirty="0"/>
              <a:t>Stift-Symbol</a:t>
            </a:r>
            <a:r>
              <a:rPr lang="de-DE" sz="2400" dirty="0"/>
              <a:t>.</a:t>
            </a:r>
          </a:p>
          <a:p>
            <a:r>
              <a:rPr lang="de-DE" sz="2400" dirty="0"/>
              <a:t>Nehmen Sie Ihre Änderungen vor und wählen Sie erneut </a:t>
            </a:r>
            <a:r>
              <a:rPr lang="de-DE" sz="2400" b="1" dirty="0"/>
              <a:t>„Speichern“</a:t>
            </a:r>
            <a:r>
              <a:rPr lang="de-DE" sz="2400" dirty="0"/>
              <a:t>.</a:t>
            </a:r>
          </a:p>
          <a:p>
            <a:pPr marL="0" indent="0">
              <a:buNone/>
            </a:pPr>
            <a:endParaRPr lang="de-DE" sz="24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98A0714-BA56-3668-ED6B-58B75DC77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17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CC482D-69D0-A642-0741-E78663E1C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Prompt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F32FE5-0682-706D-09EB-332F0AEA4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800" dirty="0"/>
              <a:t>Rolle: Handle als erfahrener Experte für Reisekostenabrechnungen und Compliance.</a:t>
            </a:r>
          </a:p>
          <a:p>
            <a:r>
              <a:rPr lang="de-DE" sz="2800" dirty="0"/>
              <a:t>Aufgabe: Prüfe die beigefügte Reisekostenabrechnung auf Richtigkeit, Vollständigkeit und Konformität mit den internen Richtlinien.</a:t>
            </a:r>
          </a:p>
          <a:p>
            <a:pPr marL="0" indent="0">
              <a:buNone/>
            </a:pPr>
            <a:endParaRPr lang="de-DE" sz="2800" dirty="0"/>
          </a:p>
          <a:p>
            <a:endParaRPr lang="de-DE" sz="28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1A38A8-F7F8-BB6B-FD67-1B2FDF01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84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800613-7751-1F5C-5236-6F93608E0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Prompt(Forts.)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7251B0-E1A7-393A-26A5-C786B734F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400" dirty="0"/>
              <a:t>Prüfschritte:</a:t>
            </a:r>
          </a:p>
          <a:p>
            <a:r>
              <a:rPr lang="de-DE" sz="2400" dirty="0"/>
              <a:t>Vollständigkeit: Sind alle erforderlichen Felder (Datum, Zweck, Reiseziel, Kostenstellen) ausgefüllt? Liegen Belege für alle Beträge vor?</a:t>
            </a:r>
          </a:p>
          <a:p>
            <a:r>
              <a:rPr lang="de-DE" sz="2400" dirty="0"/>
              <a:t>Richtigkeit der Angaben: Entsprechen die Pauschalen (Verpflegung, Übernachtung, Fahrtkosten) den gesetzlichen Höchstsätzen für das Jahr 2026?</a:t>
            </a:r>
          </a:p>
          <a:p>
            <a:r>
              <a:rPr lang="de-DE" sz="2400" dirty="0"/>
              <a:t>Plausibilitätsprüfung: Gibt es zeitliche Überschneidungen? Wirken die Kosten für Mahlzeiten oder Unterkünfte im Verhältnis zum Reiseziel angemessen?</a:t>
            </a:r>
          </a:p>
          <a:p>
            <a:r>
              <a:rPr lang="de-DE" sz="2400" dirty="0"/>
              <a:t>Richtlinien-Konformität: Wurden Bewirtungskosten korrekt deklariert (Teilnehmerliste, Anlass)? Sind private Ausgaben (z. B. Minibar, private Fahrten) korrekt als nicht erstattungsfähig markiert?</a:t>
            </a:r>
          </a:p>
          <a:p>
            <a:endParaRPr lang="de-DE" sz="24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F6C30B-70CA-D754-3520-B18FBD568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050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B05B53-6F6C-8067-4F47-902458C6E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Prompt(Forts.)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B60EA6-1220-6A6A-FE1D-AEB7854E5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559"/>
            <a:ext cx="10972800" cy="4525963"/>
          </a:xfrm>
        </p:spPr>
        <p:txBody>
          <a:bodyPr/>
          <a:lstStyle/>
          <a:p>
            <a:r>
              <a:rPr lang="de-DE" sz="2400" dirty="0"/>
              <a:t>Ausgabeformat:</a:t>
            </a:r>
          </a:p>
          <a:p>
            <a:r>
              <a:rPr lang="de-DE" sz="2400" dirty="0"/>
              <a:t>Erstelle eine Zusammenfassung der Prüfung.</a:t>
            </a:r>
          </a:p>
          <a:p>
            <a:r>
              <a:rPr lang="de-DE" sz="2400" dirty="0"/>
              <a:t>Liste alle gefundenen Fehler oder Unstimmigkeiten in einer Tabelle auf (Spalten: Fehlerbeschreibung, Schweregrad, Empfohlene Korrektur).</a:t>
            </a:r>
          </a:p>
          <a:p>
            <a:r>
              <a:rPr lang="de-DE" sz="2400" dirty="0"/>
              <a:t>Gib eine klare Empfehlung: "Zur Auszahlung freigeben", "Rücksprache erforderlich" oder "Ablehnen".</a:t>
            </a:r>
          </a:p>
          <a:p>
            <a:r>
              <a:rPr lang="de-DE" sz="2400" dirty="0"/>
              <a:t>Daten: [Hier die Reisekostenabrechnung/Belege als Text oder Datei einfügen]</a:t>
            </a:r>
          </a:p>
          <a:p>
            <a:r>
              <a:rPr lang="de-DE" sz="2400" dirty="0"/>
              <a:t>Tipps für eine noch bessere Ausführung:</a:t>
            </a:r>
          </a:p>
          <a:p>
            <a:r>
              <a:rPr lang="de-DE" sz="2400" dirty="0"/>
              <a:t>Richtlinien hinterlegen: Wenn dein Unternehmen spezifische interne Reiserichtlinien hat (z. B. "Hotel bis maximal 150€"), füge diese unbedingt unter einem Punkt "Interne Richtlinien" in den Prompt ein. Ohne diese kann der Agent nur nach allgemeingültigen Standards prüfen.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2FC979-4D77-4B3A-BD01-E39AB1F06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18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85E361-214C-B6E9-E0AE-BDE4C6B00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Prompt(Forts.)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B87098-FA0F-61E6-9865-9119F9C6E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Belege: Falls du die Daten per OCR (Texterkennung) ausgelesen hast, gib dem Agenten den Hinweis, die Belegsummen mit den in der Tabelle eingetragenen Werten abzugleichen.</a:t>
            </a:r>
          </a:p>
          <a:p>
            <a:r>
              <a:rPr lang="de-DE" dirty="0"/>
              <a:t>Format: Falls du die Ausgabe direkt in eine Excel- oder CSV-Datei brauchst, ergänze: "Gib die Korrekturliste zusätzlich in einem Tabellenformat aus, das direkt kopiert werden kann.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A1ADA76-02B2-B3D3-6C88-C87F65C12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77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D9B9C12-AD8B-C87C-C47E-82C93710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Rechteck: abgerundete Ecken 2">
            <a:hlinkClick r:id="rId2"/>
            <a:extLst>
              <a:ext uri="{FF2B5EF4-FFF2-40B4-BE49-F238E27FC236}">
                <a16:creationId xmlns:a16="http://schemas.microsoft.com/office/drawing/2014/main" id="{EF5BE9AC-CE6E-B761-7412-67AB5385DB12}"/>
              </a:ext>
            </a:extLst>
          </p:cNvPr>
          <p:cNvSpPr/>
          <p:nvPr/>
        </p:nvSpPr>
        <p:spPr>
          <a:xfrm>
            <a:off x="3134360" y="1463040"/>
            <a:ext cx="5923280" cy="3728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400" dirty="0"/>
              <a:t>Go </a:t>
            </a:r>
            <a:r>
              <a:rPr lang="de-DE" sz="5400" dirty="0" err="1"/>
              <a:t>to</a:t>
            </a:r>
            <a:r>
              <a:rPr lang="de-DE" sz="5400" dirty="0"/>
              <a:t> Gemini</a:t>
            </a:r>
          </a:p>
        </p:txBody>
      </p:sp>
    </p:spTree>
    <p:extLst>
      <p:ext uri="{BB962C8B-B14F-4D97-AF65-F5344CB8AC3E}">
        <p14:creationId xmlns:p14="http://schemas.microsoft.com/office/powerpoint/2010/main" val="3720851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633</Words>
  <Application>Microsoft Office PowerPoint</Application>
  <PresentationFormat>Breitbild</PresentationFormat>
  <Paragraphs>63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Wingdings</vt:lpstr>
      <vt:lpstr>Office Theme</vt:lpstr>
      <vt:lpstr>PowerPoint-Präsentation</vt:lpstr>
      <vt:lpstr>PowerPoint-Präsentation</vt:lpstr>
      <vt:lpstr>Beispiel: dein personalisierter Agent.</vt:lpstr>
      <vt:lpstr>Schritt-für-Schritt-Anleitung:  Erstellung eines individuellen Gems </vt:lpstr>
      <vt:lpstr>Erstellung eines individuellen Gems (2)</vt:lpstr>
      <vt:lpstr>Erstellung eines individuellen Gems (3)</vt:lpstr>
      <vt:lpstr>Prompt</vt:lpstr>
      <vt:lpstr>Prompt(Forts.)</vt:lpstr>
      <vt:lpstr>Prompt(Forts.)</vt:lpstr>
      <vt:lpstr>Prompt(Forts.)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Hector Upegui</dc:creator>
  <cp:keywords/>
  <dc:description>generated using python-pptx</dc:description>
  <cp:lastModifiedBy>Beatriz Ochoa</cp:lastModifiedBy>
  <cp:revision>63</cp:revision>
  <dcterms:created xsi:type="dcterms:W3CDTF">2013-01-27T09:14:16Z</dcterms:created>
  <dcterms:modified xsi:type="dcterms:W3CDTF">2026-07-15T23:49:19Z</dcterms:modified>
  <cp:category/>
</cp:coreProperties>
</file>